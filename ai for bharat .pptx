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7" r:id="rId8"/>
    <p:sldId id="263" r:id="rId9"/>
    <p:sldId id="264" r:id="rId10"/>
    <p:sldId id="265" r:id="rId11"/>
    <p:sldId id="266" r:id="rId12"/>
  </p:sldIdLst>
  <p:sldSz cx="9144000" cy="5143500" type="screen16x9"/>
  <p:notesSz cx="6858000" cy="9144000"/>
  <p:embeddedFontLst>
    <p:embeddedFont>
      <p:font typeface="Manrope" panose="020B0604020202020204" charset="0"/>
      <p:regular r:id="rId14"/>
      <p:bold r:id="rId15"/>
    </p:embeddedFont>
    <p:embeddedFont>
      <p:font typeface="Manrope SemiBold" panose="020B0604020202020204" charset="0"/>
      <p:regular r:id="rId16"/>
      <p:bold r:id="rId17"/>
    </p:embeddedFont>
    <p:embeddedFont>
      <p:font typeface="Poppins" panose="00000500000000000000"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C52C61-DBDC-4005-9B71-8874EFF9E638}" v="26" dt="2026-02-15T10:15:05.0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54"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srijit Verma" userId="f5bbff80-5ab5-44ba-93e2-31bf5f6b9376" providerId="ADAL" clId="{3169A6B3-35AC-4565-B429-D8BDD95AD207}"/>
    <pc:docChg chg="undo redo custSel addSld delSld modSld sldOrd">
      <pc:chgData name="Shivsrijit Verma" userId="f5bbff80-5ab5-44ba-93e2-31bf5f6b9376" providerId="ADAL" clId="{3169A6B3-35AC-4565-B429-D8BDD95AD207}" dt="2026-02-15T10:18:04.186" v="1008" actId="14100"/>
      <pc:docMkLst>
        <pc:docMk/>
      </pc:docMkLst>
      <pc:sldChg chg="addSp delSp modSp mod">
        <pc:chgData name="Shivsrijit Verma" userId="f5bbff80-5ab5-44ba-93e2-31bf5f6b9376" providerId="ADAL" clId="{3169A6B3-35AC-4565-B429-D8BDD95AD207}" dt="2026-02-15T09:44:33.032" v="450" actId="27636"/>
        <pc:sldMkLst>
          <pc:docMk/>
          <pc:sldMk cId="0" sldId="256"/>
        </pc:sldMkLst>
        <pc:spChg chg="mod">
          <ac:chgData name="Shivsrijit Verma" userId="f5bbff80-5ab5-44ba-93e2-31bf5f6b9376" providerId="ADAL" clId="{3169A6B3-35AC-4565-B429-D8BDD95AD207}" dt="2026-02-15T09:42:11.182" v="317" actId="20577"/>
          <ac:spMkLst>
            <pc:docMk/>
            <pc:sldMk cId="0" sldId="256"/>
            <ac:spMk id="55" creationId="{00000000-0000-0000-0000-000000000000}"/>
          </ac:spMkLst>
        </pc:spChg>
        <pc:spChg chg="mod">
          <ac:chgData name="Shivsrijit Verma" userId="f5bbff80-5ab5-44ba-93e2-31bf5f6b9376" providerId="ADAL" clId="{3169A6B3-35AC-4565-B429-D8BDD95AD207}" dt="2026-02-15T09:44:33.032" v="450" actId="27636"/>
          <ac:spMkLst>
            <pc:docMk/>
            <pc:sldMk cId="0" sldId="256"/>
            <ac:spMk id="56" creationId="{00000000-0000-0000-0000-000000000000}"/>
          </ac:spMkLst>
        </pc:spChg>
        <pc:spChg chg="mod">
          <ac:chgData name="Shivsrijit Verma" userId="f5bbff80-5ab5-44ba-93e2-31bf5f6b9376" providerId="ADAL" clId="{3169A6B3-35AC-4565-B429-D8BDD95AD207}" dt="2026-02-15T09:42:18.006" v="334" actId="20577"/>
          <ac:spMkLst>
            <pc:docMk/>
            <pc:sldMk cId="0" sldId="256"/>
            <ac:spMk id="57" creationId="{00000000-0000-0000-0000-000000000000}"/>
          </ac:spMkLst>
        </pc:spChg>
        <pc:picChg chg="add del">
          <ac:chgData name="Shivsrijit Verma" userId="f5bbff80-5ab5-44ba-93e2-31bf5f6b9376" providerId="ADAL" clId="{3169A6B3-35AC-4565-B429-D8BDD95AD207}" dt="2026-02-15T09:40:05.821" v="17" actId="21"/>
          <ac:picMkLst>
            <pc:docMk/>
            <pc:sldMk cId="0" sldId="256"/>
            <ac:picMk id="54" creationId="{00000000-0000-0000-0000-000000000000}"/>
          </ac:picMkLst>
        </pc:picChg>
      </pc:sldChg>
      <pc:sldChg chg="addSp modSp mod">
        <pc:chgData name="Shivsrijit Verma" userId="f5bbff80-5ab5-44ba-93e2-31bf5f6b9376" providerId="ADAL" clId="{3169A6B3-35AC-4565-B429-D8BDD95AD207}" dt="2026-02-15T09:46:54.227" v="479" actId="1076"/>
        <pc:sldMkLst>
          <pc:docMk/>
          <pc:sldMk cId="0" sldId="257"/>
        </pc:sldMkLst>
        <pc:spChg chg="add mod">
          <ac:chgData name="Shivsrijit Verma" userId="f5bbff80-5ab5-44ba-93e2-31bf5f6b9376" providerId="ADAL" clId="{3169A6B3-35AC-4565-B429-D8BDD95AD207}" dt="2026-02-15T09:46:54.227" v="479" actId="1076"/>
          <ac:spMkLst>
            <pc:docMk/>
            <pc:sldMk cId="0" sldId="257"/>
            <ac:spMk id="2" creationId="{797B4A09-0765-5578-91FF-A177E1EE6016}"/>
          </ac:spMkLst>
        </pc:spChg>
        <pc:spChg chg="mod">
          <ac:chgData name="Shivsrijit Verma" userId="f5bbff80-5ab5-44ba-93e2-31bf5f6b9376" providerId="ADAL" clId="{3169A6B3-35AC-4565-B429-D8BDD95AD207}" dt="2026-02-15T09:46:50.563" v="478" actId="1076"/>
          <ac:spMkLst>
            <pc:docMk/>
            <pc:sldMk cId="0" sldId="257"/>
            <ac:spMk id="63" creationId="{00000000-0000-0000-0000-000000000000}"/>
          </ac:spMkLst>
        </pc:spChg>
        <pc:picChg chg="add mod">
          <ac:chgData name="Shivsrijit Verma" userId="f5bbff80-5ab5-44ba-93e2-31bf5f6b9376" providerId="ADAL" clId="{3169A6B3-35AC-4565-B429-D8BDD95AD207}" dt="2026-02-15T09:46:14.548" v="471" actId="14100"/>
          <ac:picMkLst>
            <pc:docMk/>
            <pc:sldMk cId="0" sldId="257"/>
            <ac:picMk id="3" creationId="{7942593E-7252-8A74-D48C-EA7FE23C0E42}"/>
          </ac:picMkLst>
        </pc:picChg>
        <pc:picChg chg="mod">
          <ac:chgData name="Shivsrijit Verma" userId="f5bbff80-5ab5-44ba-93e2-31bf5f6b9376" providerId="ADAL" clId="{3169A6B3-35AC-4565-B429-D8BDD95AD207}" dt="2026-02-15T09:46:46.872" v="477" actId="1076"/>
          <ac:picMkLst>
            <pc:docMk/>
            <pc:sldMk cId="0" sldId="257"/>
            <ac:picMk id="62" creationId="{00000000-0000-0000-0000-000000000000}"/>
          </ac:picMkLst>
        </pc:picChg>
      </pc:sldChg>
      <pc:sldChg chg="modSp mod">
        <pc:chgData name="Shivsrijit Verma" userId="f5bbff80-5ab5-44ba-93e2-31bf5f6b9376" providerId="ADAL" clId="{3169A6B3-35AC-4565-B429-D8BDD95AD207}" dt="2026-02-15T09:48:40.362" v="516" actId="27636"/>
        <pc:sldMkLst>
          <pc:docMk/>
          <pc:sldMk cId="0" sldId="258"/>
        </pc:sldMkLst>
        <pc:spChg chg="mod">
          <ac:chgData name="Shivsrijit Verma" userId="f5bbff80-5ab5-44ba-93e2-31bf5f6b9376" providerId="ADAL" clId="{3169A6B3-35AC-4565-B429-D8BDD95AD207}" dt="2026-02-15T09:48:40.362" v="516" actId="27636"/>
          <ac:spMkLst>
            <pc:docMk/>
            <pc:sldMk cId="0" sldId="258"/>
            <ac:spMk id="69" creationId="{00000000-0000-0000-0000-000000000000}"/>
          </ac:spMkLst>
        </pc:spChg>
      </pc:sldChg>
      <pc:sldChg chg="addSp delSp modSp mod">
        <pc:chgData name="Shivsrijit Verma" userId="f5bbff80-5ab5-44ba-93e2-31bf5f6b9376" providerId="ADAL" clId="{3169A6B3-35AC-4565-B429-D8BDD95AD207}" dt="2026-02-15T09:56:04.337" v="651" actId="13822"/>
        <pc:sldMkLst>
          <pc:docMk/>
          <pc:sldMk cId="0" sldId="259"/>
        </pc:sldMkLst>
        <pc:spChg chg="mod">
          <ac:chgData name="Shivsrijit Verma" userId="f5bbff80-5ab5-44ba-93e2-31bf5f6b9376" providerId="ADAL" clId="{3169A6B3-35AC-4565-B429-D8BDD95AD207}" dt="2026-02-15T09:54:04.008" v="631" actId="115"/>
          <ac:spMkLst>
            <pc:docMk/>
            <pc:sldMk cId="0" sldId="259"/>
            <ac:spMk id="75" creationId="{00000000-0000-0000-0000-000000000000}"/>
          </ac:spMkLst>
        </pc:spChg>
        <pc:picChg chg="add mod">
          <ac:chgData name="Shivsrijit Verma" userId="f5bbff80-5ab5-44ba-93e2-31bf5f6b9376" providerId="ADAL" clId="{3169A6B3-35AC-4565-B429-D8BDD95AD207}" dt="2026-02-15T09:54:42.994" v="636" actId="1076"/>
          <ac:picMkLst>
            <pc:docMk/>
            <pc:sldMk cId="0" sldId="259"/>
            <ac:picMk id="3" creationId="{9C6D8E89-7561-1432-0C9D-7C9FA240A53B}"/>
          </ac:picMkLst>
        </pc:picChg>
        <pc:picChg chg="add mod">
          <ac:chgData name="Shivsrijit Verma" userId="f5bbff80-5ab5-44ba-93e2-31bf5f6b9376" providerId="ADAL" clId="{3169A6B3-35AC-4565-B429-D8BDD95AD207}" dt="2026-02-15T09:55:07.407" v="637"/>
          <ac:picMkLst>
            <pc:docMk/>
            <pc:sldMk cId="0" sldId="259"/>
            <ac:picMk id="4" creationId="{72DD2AF0-9682-FC10-76B4-2665AF2ABFAE}"/>
          </ac:picMkLst>
        </pc:picChg>
        <pc:picChg chg="add del mod">
          <ac:chgData name="Shivsrijit Verma" userId="f5bbff80-5ab5-44ba-93e2-31bf5f6b9376" providerId="ADAL" clId="{3169A6B3-35AC-4565-B429-D8BDD95AD207}" dt="2026-02-15T09:55:23.783" v="639" actId="931"/>
          <ac:picMkLst>
            <pc:docMk/>
            <pc:sldMk cId="0" sldId="259"/>
            <ac:picMk id="6" creationId="{6F0088AA-6768-68AB-D437-B084F4CCA095}"/>
          </ac:picMkLst>
        </pc:picChg>
        <pc:picChg chg="add del mod">
          <ac:chgData name="Shivsrijit Verma" userId="f5bbff80-5ab5-44ba-93e2-31bf5f6b9376" providerId="ADAL" clId="{3169A6B3-35AC-4565-B429-D8BDD95AD207}" dt="2026-02-15T09:55:50.780" v="649" actId="931"/>
          <ac:picMkLst>
            <pc:docMk/>
            <pc:sldMk cId="0" sldId="259"/>
            <ac:picMk id="8" creationId="{71A85DC3-D04C-F3F9-E64F-EED3F69177C3}"/>
          </ac:picMkLst>
        </pc:picChg>
        <pc:cxnChg chg="add mod">
          <ac:chgData name="Shivsrijit Verma" userId="f5bbff80-5ab5-44ba-93e2-31bf5f6b9376" providerId="ADAL" clId="{3169A6B3-35AC-4565-B429-D8BDD95AD207}" dt="2026-02-15T09:56:04.337" v="651" actId="13822"/>
          <ac:cxnSpMkLst>
            <pc:docMk/>
            <pc:sldMk cId="0" sldId="259"/>
            <ac:cxnSpMk id="10" creationId="{D31B42C6-E098-A7DE-2972-E7034EE74A10}"/>
          </ac:cxnSpMkLst>
        </pc:cxnChg>
      </pc:sldChg>
      <pc:sldChg chg="addSp delSp modSp mod">
        <pc:chgData name="Shivsrijit Verma" userId="f5bbff80-5ab5-44ba-93e2-31bf5f6b9376" providerId="ADAL" clId="{3169A6B3-35AC-4565-B429-D8BDD95AD207}" dt="2026-02-15T10:03:30.204" v="710" actId="14100"/>
        <pc:sldMkLst>
          <pc:docMk/>
          <pc:sldMk cId="0" sldId="260"/>
        </pc:sldMkLst>
        <pc:spChg chg="add del mod">
          <ac:chgData name="Shivsrijit Verma" userId="f5bbff80-5ab5-44ba-93e2-31bf5f6b9376" providerId="ADAL" clId="{3169A6B3-35AC-4565-B429-D8BDD95AD207}" dt="2026-02-15T10:02:18.167" v="703" actId="14100"/>
          <ac:spMkLst>
            <pc:docMk/>
            <pc:sldMk cId="0" sldId="260"/>
            <ac:spMk id="81" creationId="{00000000-0000-0000-0000-000000000000}"/>
          </ac:spMkLst>
        </pc:spChg>
        <pc:picChg chg="add del mod ord">
          <ac:chgData name="Shivsrijit Verma" userId="f5bbff80-5ab5-44ba-93e2-31bf5f6b9376" providerId="ADAL" clId="{3169A6B3-35AC-4565-B429-D8BDD95AD207}" dt="2026-02-15T10:02:25.374" v="705" actId="478"/>
          <ac:picMkLst>
            <pc:docMk/>
            <pc:sldMk cId="0" sldId="260"/>
            <ac:picMk id="3" creationId="{208AE46A-1B45-7532-400A-388E4053B2B8}"/>
          </ac:picMkLst>
        </pc:picChg>
        <pc:picChg chg="add mod modCrop">
          <ac:chgData name="Shivsrijit Verma" userId="f5bbff80-5ab5-44ba-93e2-31bf5f6b9376" providerId="ADAL" clId="{3169A6B3-35AC-4565-B429-D8BDD95AD207}" dt="2026-02-15T10:03:30.204" v="710" actId="14100"/>
          <ac:picMkLst>
            <pc:docMk/>
            <pc:sldMk cId="0" sldId="260"/>
            <ac:picMk id="5" creationId="{D5F17F2F-4A51-4B77-3231-2B153ED98F5D}"/>
          </ac:picMkLst>
        </pc:picChg>
        <pc:picChg chg="add del mod ord">
          <ac:chgData name="Shivsrijit Verma" userId="f5bbff80-5ab5-44ba-93e2-31bf5f6b9376" providerId="ADAL" clId="{3169A6B3-35AC-4565-B429-D8BDD95AD207}" dt="2026-02-15T10:02:22.832" v="704" actId="167"/>
          <ac:picMkLst>
            <pc:docMk/>
            <pc:sldMk cId="0" sldId="260"/>
            <ac:picMk id="80" creationId="{00000000-0000-0000-0000-000000000000}"/>
          </ac:picMkLst>
        </pc:picChg>
      </pc:sldChg>
      <pc:sldChg chg="addSp delSp modSp mod">
        <pc:chgData name="Shivsrijit Verma" userId="f5bbff80-5ab5-44ba-93e2-31bf5f6b9376" providerId="ADAL" clId="{3169A6B3-35AC-4565-B429-D8BDD95AD207}" dt="2026-02-15T10:00:10.023" v="687" actId="14100"/>
        <pc:sldMkLst>
          <pc:docMk/>
          <pc:sldMk cId="0" sldId="261"/>
        </pc:sldMkLst>
        <pc:spChg chg="del mod">
          <ac:chgData name="Shivsrijit Verma" userId="f5bbff80-5ab5-44ba-93e2-31bf5f6b9376" providerId="ADAL" clId="{3169A6B3-35AC-4565-B429-D8BDD95AD207}" dt="2026-02-15T09:59:57.366" v="684" actId="478"/>
          <ac:spMkLst>
            <pc:docMk/>
            <pc:sldMk cId="0" sldId="261"/>
            <ac:spMk id="87" creationId="{00000000-0000-0000-0000-000000000000}"/>
          </ac:spMkLst>
        </pc:spChg>
        <pc:picChg chg="add mod">
          <ac:chgData name="Shivsrijit Verma" userId="f5bbff80-5ab5-44ba-93e2-31bf5f6b9376" providerId="ADAL" clId="{3169A6B3-35AC-4565-B429-D8BDD95AD207}" dt="2026-02-15T10:00:10.023" v="687" actId="14100"/>
          <ac:picMkLst>
            <pc:docMk/>
            <pc:sldMk cId="0" sldId="261"/>
            <ac:picMk id="3" creationId="{6BC5F1F4-2ACC-C74A-AC4E-A28AF04D65A8}"/>
          </ac:picMkLst>
        </pc:picChg>
      </pc:sldChg>
      <pc:sldChg chg="del">
        <pc:chgData name="Shivsrijit Verma" userId="f5bbff80-5ab5-44ba-93e2-31bf5f6b9376" providerId="ADAL" clId="{3169A6B3-35AC-4565-B429-D8BDD95AD207}" dt="2026-02-15T10:01:38.402" v="696" actId="47"/>
        <pc:sldMkLst>
          <pc:docMk/>
          <pc:sldMk cId="0" sldId="262"/>
        </pc:sldMkLst>
      </pc:sldChg>
      <pc:sldChg chg="addSp modSp mod">
        <pc:chgData name="Shivsrijit Verma" userId="f5bbff80-5ab5-44ba-93e2-31bf5f6b9376" providerId="ADAL" clId="{3169A6B3-35AC-4565-B429-D8BDD95AD207}" dt="2026-02-15T10:11:15.988" v="877" actId="313"/>
        <pc:sldMkLst>
          <pc:docMk/>
          <pc:sldMk cId="0" sldId="263"/>
        </pc:sldMkLst>
        <pc:spChg chg="mod">
          <ac:chgData name="Shivsrijit Verma" userId="f5bbff80-5ab5-44ba-93e2-31bf5f6b9376" providerId="ADAL" clId="{3169A6B3-35AC-4565-B429-D8BDD95AD207}" dt="2026-02-15T10:11:15.988" v="877" actId="313"/>
          <ac:spMkLst>
            <pc:docMk/>
            <pc:sldMk cId="0" sldId="263"/>
            <ac:spMk id="99" creationId="{00000000-0000-0000-0000-000000000000}"/>
          </ac:spMkLst>
        </pc:spChg>
        <pc:picChg chg="add mod">
          <ac:chgData name="Shivsrijit Verma" userId="f5bbff80-5ab5-44ba-93e2-31bf5f6b9376" providerId="ADAL" clId="{3169A6B3-35AC-4565-B429-D8BDD95AD207}" dt="2026-02-15T10:09:44.711" v="851" actId="1076"/>
          <ac:picMkLst>
            <pc:docMk/>
            <pc:sldMk cId="0" sldId="263"/>
            <ac:picMk id="3" creationId="{CBB36D3F-62DE-6517-0FF7-281A4387237A}"/>
          </ac:picMkLst>
        </pc:picChg>
      </pc:sldChg>
      <pc:sldChg chg="addSp modSp mod">
        <pc:chgData name="Shivsrijit Verma" userId="f5bbff80-5ab5-44ba-93e2-31bf5f6b9376" providerId="ADAL" clId="{3169A6B3-35AC-4565-B429-D8BDD95AD207}" dt="2026-02-15T10:14:45.287" v="956" actId="1076"/>
        <pc:sldMkLst>
          <pc:docMk/>
          <pc:sldMk cId="0" sldId="264"/>
        </pc:sldMkLst>
        <pc:spChg chg="mod">
          <ac:chgData name="Shivsrijit Verma" userId="f5bbff80-5ab5-44ba-93e2-31bf5f6b9376" providerId="ADAL" clId="{3169A6B3-35AC-4565-B429-D8BDD95AD207}" dt="2026-02-15T10:14:27.106" v="953" actId="2710"/>
          <ac:spMkLst>
            <pc:docMk/>
            <pc:sldMk cId="0" sldId="264"/>
            <ac:spMk id="105" creationId="{00000000-0000-0000-0000-000000000000}"/>
          </ac:spMkLst>
        </pc:spChg>
        <pc:picChg chg="add mod">
          <ac:chgData name="Shivsrijit Verma" userId="f5bbff80-5ab5-44ba-93e2-31bf5f6b9376" providerId="ADAL" clId="{3169A6B3-35AC-4565-B429-D8BDD95AD207}" dt="2026-02-15T10:14:45.287" v="956" actId="1076"/>
          <ac:picMkLst>
            <pc:docMk/>
            <pc:sldMk cId="0" sldId="264"/>
            <ac:picMk id="3" creationId="{AED4AE0C-E221-36F6-2063-3A43DFBBA635}"/>
          </ac:picMkLst>
        </pc:picChg>
      </pc:sldChg>
      <pc:sldChg chg="modSp mod">
        <pc:chgData name="Shivsrijit Verma" userId="f5bbff80-5ab5-44ba-93e2-31bf5f6b9376" providerId="ADAL" clId="{3169A6B3-35AC-4565-B429-D8BDD95AD207}" dt="2026-02-15T10:18:04.186" v="1008" actId="14100"/>
        <pc:sldMkLst>
          <pc:docMk/>
          <pc:sldMk cId="0" sldId="265"/>
        </pc:sldMkLst>
        <pc:spChg chg="mod">
          <ac:chgData name="Shivsrijit Verma" userId="f5bbff80-5ab5-44ba-93e2-31bf5f6b9376" providerId="ADAL" clId="{3169A6B3-35AC-4565-B429-D8BDD95AD207}" dt="2026-02-15T10:18:04.186" v="1008" actId="14100"/>
          <ac:spMkLst>
            <pc:docMk/>
            <pc:sldMk cId="0" sldId="265"/>
            <ac:spMk id="111" creationId="{00000000-0000-0000-0000-000000000000}"/>
          </ac:spMkLst>
        </pc:spChg>
      </pc:sldChg>
      <pc:sldChg chg="modSp add mod ord">
        <pc:chgData name="Shivsrijit Verma" userId="f5bbff80-5ab5-44ba-93e2-31bf5f6b9376" providerId="ADAL" clId="{3169A6B3-35AC-4565-B429-D8BDD95AD207}" dt="2026-02-15T10:01:36.893" v="695"/>
        <pc:sldMkLst>
          <pc:docMk/>
          <pc:sldMk cId="1841003918" sldId="267"/>
        </pc:sldMkLst>
        <pc:spChg chg="mod">
          <ac:chgData name="Shivsrijit Verma" userId="f5bbff80-5ab5-44ba-93e2-31bf5f6b9376" providerId="ADAL" clId="{3169A6B3-35AC-4565-B429-D8BDD95AD207}" dt="2026-02-15T10:01:34.133" v="693" actId="115"/>
          <ac:spMkLst>
            <pc:docMk/>
            <pc:sldMk cId="1841003918" sldId="267"/>
            <ac:spMk id="81" creationId="{366C9F7A-17BF-5C62-5A7C-8244B8976BC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6c7e6215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6c7e6215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6c7e6215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6c7e6215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b6c7e62156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b6c7e6215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a:extLst>
            <a:ext uri="{FF2B5EF4-FFF2-40B4-BE49-F238E27FC236}">
              <a16:creationId xmlns:a16="http://schemas.microsoft.com/office/drawing/2014/main" id="{E97CEFBF-184C-5B85-E4C4-0F57268C0A68}"/>
            </a:ext>
          </a:extLst>
        </p:cNvPr>
        <p:cNvGrpSpPr/>
        <p:nvPr/>
      </p:nvGrpSpPr>
      <p:grpSpPr>
        <a:xfrm>
          <a:off x="0" y="0"/>
          <a:ext cx="0" cy="0"/>
          <a:chOff x="0" y="0"/>
          <a:chExt cx="0" cy="0"/>
        </a:xfrm>
      </p:grpSpPr>
      <p:sp>
        <p:nvSpPr>
          <p:cNvPr id="77" name="Google Shape;77;g3b6c7e62156_0_23:notes">
            <a:extLst>
              <a:ext uri="{FF2B5EF4-FFF2-40B4-BE49-F238E27FC236}">
                <a16:creationId xmlns:a16="http://schemas.microsoft.com/office/drawing/2014/main" id="{FE0337EE-D0F3-6423-1B53-A6539009A1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6c7e62156_0_23:notes">
            <a:extLst>
              <a:ext uri="{FF2B5EF4-FFF2-40B4-BE49-F238E27FC236}">
                <a16:creationId xmlns:a16="http://schemas.microsoft.com/office/drawing/2014/main" id="{7A17DF0B-B380-DAFC-BF57-7AC26C83D4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3407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b6c7e62156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6c7e62156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b6c7e62156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Name : CR007</a:t>
            </a:r>
            <a:endParaRPr sz="1600" dirty="0">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80" y="4298160"/>
            <a:ext cx="8520600" cy="6396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sz="1600" dirty="0">
                <a:solidFill>
                  <a:srgbClr val="202729"/>
                </a:solidFill>
                <a:latin typeface="Manrope SemiBold"/>
                <a:ea typeface="Manrope SemiBold"/>
                <a:cs typeface="Manrope SemiBold"/>
                <a:sym typeface="Manrope SemiBold"/>
              </a:rPr>
              <a:t>Problem Statement :  Gamifying Financial Literacy for Bharat – Incentive Learning 			       through Pay </a:t>
            </a:r>
          </a:p>
        </p:txBody>
      </p:sp>
      <p:sp>
        <p:nvSpPr>
          <p:cNvPr id="57" name="Google Shape;57;p13"/>
          <p:cNvSpPr txBox="1"/>
          <p:nvPr/>
        </p:nvSpPr>
        <p:spPr>
          <a:xfrm>
            <a:off x="383663" y="385445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Leader Name : Aditya Kumar</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p:cNvSpPr txBox="1"/>
          <p:nvPr/>
        </p:nvSpPr>
        <p:spPr>
          <a:xfrm>
            <a:off x="311700" y="535576"/>
            <a:ext cx="2403000" cy="46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935"/>
              <a:buNone/>
            </a:pPr>
            <a:r>
              <a:rPr lang="en-GB" sz="1700" b="1" u="sng" dirty="0">
                <a:solidFill>
                  <a:srgbClr val="202729"/>
                </a:solidFill>
                <a:latin typeface="Manrope"/>
                <a:ea typeface="Manrope"/>
                <a:cs typeface="Manrope"/>
                <a:sym typeface="Manrope"/>
              </a:rPr>
              <a:t>Brief about the Idea:</a:t>
            </a:r>
            <a:endParaRPr sz="1700" b="1" u="sng" dirty="0">
              <a:solidFill>
                <a:srgbClr val="202729"/>
              </a:solidFill>
              <a:latin typeface="Manrope"/>
              <a:ea typeface="Manrope"/>
              <a:cs typeface="Manrope"/>
              <a:sym typeface="Manrope"/>
            </a:endParaRPr>
          </a:p>
        </p:txBody>
      </p:sp>
      <p:sp>
        <p:nvSpPr>
          <p:cNvPr id="2" name="TextBox 1">
            <a:extLst>
              <a:ext uri="{FF2B5EF4-FFF2-40B4-BE49-F238E27FC236}">
                <a16:creationId xmlns:a16="http://schemas.microsoft.com/office/drawing/2014/main" id="{797B4A09-0765-5578-91FF-A177E1EE6016}"/>
              </a:ext>
            </a:extLst>
          </p:cNvPr>
          <p:cNvSpPr txBox="1"/>
          <p:nvPr/>
        </p:nvSpPr>
        <p:spPr>
          <a:xfrm>
            <a:off x="311700" y="992928"/>
            <a:ext cx="8520600" cy="2154436"/>
          </a:xfrm>
          <a:prstGeom prst="rect">
            <a:avLst/>
          </a:prstGeom>
          <a:noFill/>
        </p:spPr>
        <p:txBody>
          <a:bodyPr wrap="square" rtlCol="0">
            <a:spAutoFit/>
          </a:bodyPr>
          <a:lstStyle/>
          <a:p>
            <a:r>
              <a:rPr lang="en-US" sz="1200" dirty="0">
                <a:latin typeface="Aptos" panose="020B0004020202020204" pitchFamily="34" charset="0"/>
                <a:sym typeface="Wingdings" panose="05000000000000000000" pitchFamily="2" charset="2"/>
              </a:rPr>
              <a:t>&gt; </a:t>
            </a:r>
            <a:r>
              <a:rPr lang="en-US" sz="1200" b="1" dirty="0">
                <a:latin typeface="Aptos" panose="020B0004020202020204" pitchFamily="34" charset="0"/>
              </a:rPr>
              <a:t>KISHAN SAATHI </a:t>
            </a:r>
            <a:r>
              <a:rPr lang="en-US" sz="1200" dirty="0">
                <a:latin typeface="Aptos" panose="020B0004020202020204" pitchFamily="34" charset="0"/>
              </a:rPr>
              <a:t>is a multilingual, hyper-local, gamified financial life simulator for farmers. It simulates a full agricultural year, where farmers must manage seasonal harvest income to cover year-round expenses, savings, investments, and risk protection.</a:t>
            </a:r>
          </a:p>
          <a:p>
            <a:endParaRPr lang="en-US" sz="1200" dirty="0">
              <a:latin typeface="Aptos" panose="020B0004020202020204" pitchFamily="34" charset="0"/>
            </a:endParaRPr>
          </a:p>
          <a:p>
            <a:r>
              <a:rPr lang="en-US" sz="1200" dirty="0">
                <a:latin typeface="Aptos" panose="020B0004020202020204" pitchFamily="34" charset="0"/>
              </a:rPr>
              <a:t>&gt; The platform focuses on behavior-based learning by letting farmers make real financial decisions and experience their consequences. It also delivers relevant financial updates, government schemes, and scam awareness through voice and SMS, supported by interactive simulations.</a:t>
            </a:r>
          </a:p>
          <a:p>
            <a:endParaRPr lang="en-US" sz="1200" dirty="0">
              <a:latin typeface="Aptos" panose="020B0004020202020204" pitchFamily="34" charset="0"/>
            </a:endParaRPr>
          </a:p>
          <a:p>
            <a:r>
              <a:rPr lang="en-US" sz="1200" dirty="0">
                <a:latin typeface="Aptos" panose="020B0004020202020204" pitchFamily="34" charset="0"/>
              </a:rPr>
              <a:t>&gt; Designed to be low-bandwidth, offline-friendly, and voice-first, KISHAN SAATHI bridges the gap between traditional farming and modern digital finance, helping farmers build financial resilience, confidence, and long-term well-being.</a:t>
            </a:r>
          </a:p>
          <a:p>
            <a:endParaRPr lang="en-IN" sz="1200" dirty="0"/>
          </a:p>
        </p:txBody>
      </p:sp>
      <p:pic>
        <p:nvPicPr>
          <p:cNvPr id="3" name="Picture 2">
            <a:extLst>
              <a:ext uri="{FF2B5EF4-FFF2-40B4-BE49-F238E27FC236}">
                <a16:creationId xmlns:a16="http://schemas.microsoft.com/office/drawing/2014/main" id="{7942593E-7252-8A74-D48C-EA7FE23C0E4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953" b="6573"/>
          <a:stretch>
            <a:fillRect/>
          </a:stretch>
        </p:blipFill>
        <p:spPr bwMode="auto">
          <a:xfrm>
            <a:off x="-125505" y="2802943"/>
            <a:ext cx="4966446" cy="2250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9" name="Google Shape;69;p15"/>
          <p:cNvSpPr txBox="1"/>
          <p:nvPr/>
        </p:nvSpPr>
        <p:spPr>
          <a:xfrm>
            <a:off x="144358" y="755974"/>
            <a:ext cx="8748629" cy="4043132"/>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800" b="1" u="sng" dirty="0">
                <a:solidFill>
                  <a:srgbClr val="202729"/>
                </a:solidFill>
                <a:latin typeface="Manrope"/>
                <a:ea typeface="Manrope"/>
                <a:cs typeface="Manrope"/>
                <a:sym typeface="Manrope"/>
              </a:rPr>
              <a:t>Your solution should be able to explain the following:</a:t>
            </a:r>
          </a:p>
          <a:p>
            <a:pPr marL="457200" lvl="0" indent="-323850">
              <a:lnSpc>
                <a:spcPct val="115000"/>
              </a:lnSpc>
              <a:spcBef>
                <a:spcPts val="1200"/>
              </a:spcBef>
              <a:buClr>
                <a:srgbClr val="081D54"/>
              </a:buClr>
              <a:buSzPts val="1500"/>
              <a:buFont typeface="Poppins"/>
              <a:buChar char="●"/>
            </a:pPr>
            <a:r>
              <a:rPr lang="en-US" sz="1200" dirty="0">
                <a:solidFill>
                  <a:srgbClr val="616161"/>
                </a:solidFill>
                <a:latin typeface="Poppins"/>
                <a:ea typeface="Poppins"/>
                <a:cs typeface="Poppins"/>
                <a:sym typeface="Poppins"/>
              </a:rPr>
              <a:t>How different is it from any of the other existing ideas?</a:t>
            </a:r>
          </a:p>
          <a:p>
            <a:pPr marL="133350">
              <a:lnSpc>
                <a:spcPct val="115000"/>
              </a:lnSpc>
              <a:spcBef>
                <a:spcPts val="1200"/>
              </a:spcBef>
              <a:buClr>
                <a:srgbClr val="081D54"/>
              </a:buClr>
              <a:buSzPts val="1500"/>
            </a:pPr>
            <a:r>
              <a:rPr lang="en-US" sz="1000" dirty="0">
                <a:latin typeface="Aptos" panose="020B0004020202020204" pitchFamily="34" charset="0"/>
                <a:sym typeface="Wingdings" panose="05000000000000000000" pitchFamily="2" charset="2"/>
              </a:rPr>
              <a:t> </a:t>
            </a:r>
            <a:r>
              <a:rPr lang="en-US" sz="1000" dirty="0">
                <a:latin typeface="Aptos" panose="020B0004020202020204" pitchFamily="34" charset="0"/>
              </a:rPr>
              <a:t>Unlike generic finance apps, KISHAN SAATHI is context aware and built around agricultural seasons, simulating how farmers actually earn, spend, and save. It is voice-first, multilingual, and SMS-based, enabling behavior-driven learning through real-life financial decisions not theory</a:t>
            </a:r>
          </a:p>
          <a:p>
            <a:pPr marL="133350">
              <a:lnSpc>
                <a:spcPct val="115000"/>
              </a:lnSpc>
              <a:spcBef>
                <a:spcPts val="1200"/>
              </a:spcBef>
              <a:buClr>
                <a:srgbClr val="081D54"/>
              </a:buClr>
              <a:buSzPts val="1500"/>
            </a:pPr>
            <a:endParaRPr lang="en-US" sz="1000" dirty="0">
              <a:solidFill>
                <a:srgbClr val="616161"/>
              </a:solidFill>
              <a:latin typeface="Poppins"/>
              <a:ea typeface="Poppins"/>
              <a:cs typeface="Poppins"/>
              <a:sym typeface="Poppins"/>
            </a:endParaRPr>
          </a:p>
          <a:p>
            <a:pPr marL="457200" lvl="0" indent="-323850">
              <a:lnSpc>
                <a:spcPct val="115000"/>
              </a:lnSpc>
              <a:buClr>
                <a:srgbClr val="081D54"/>
              </a:buClr>
              <a:buSzPts val="1500"/>
              <a:buFont typeface="Poppins"/>
              <a:buChar char="●"/>
            </a:pPr>
            <a:r>
              <a:rPr lang="en-US" sz="1200" dirty="0">
                <a:solidFill>
                  <a:srgbClr val="616161"/>
                </a:solidFill>
                <a:latin typeface="Poppins"/>
                <a:ea typeface="Poppins"/>
                <a:cs typeface="Poppins"/>
                <a:sym typeface="Poppins"/>
              </a:rPr>
              <a:t>How will it be able to solve the problem?</a:t>
            </a:r>
          </a:p>
          <a:p>
            <a:pPr marL="133350" lvl="0">
              <a:lnSpc>
                <a:spcPct val="115000"/>
              </a:lnSpc>
              <a:buClr>
                <a:srgbClr val="081D54"/>
              </a:buClr>
              <a:buSzPts val="1500"/>
            </a:pPr>
            <a:endParaRPr lang="en-US" sz="1200" dirty="0">
              <a:solidFill>
                <a:srgbClr val="616161"/>
              </a:solidFill>
              <a:latin typeface="Poppins"/>
              <a:ea typeface="Poppins"/>
              <a:cs typeface="Poppins"/>
              <a:sym typeface="Poppins"/>
            </a:endParaRPr>
          </a:p>
          <a:p>
            <a:pPr marL="133350">
              <a:lnSpc>
                <a:spcPct val="115000"/>
              </a:lnSpc>
              <a:buClr>
                <a:srgbClr val="081D54"/>
              </a:buClr>
              <a:buSzPts val="1500"/>
            </a:pPr>
            <a:r>
              <a:rPr lang="en-US" sz="1000" dirty="0">
                <a:latin typeface="Aptos" panose="020B0004020202020204" pitchFamily="34" charset="0"/>
                <a:sym typeface="Wingdings" panose="05000000000000000000" pitchFamily="2" charset="2"/>
              </a:rPr>
              <a:t> </a:t>
            </a:r>
            <a:r>
              <a:rPr lang="en-US" sz="1000" dirty="0">
                <a:latin typeface="Aptos" panose="020B0004020202020204" pitchFamily="34" charset="0"/>
              </a:rPr>
              <a:t>KISHAN SAATHI solves the problem by letting farmers practice real financial decisions : budgeting, saving, credit, insurance, and fraud avoidance through seasonal simulations that mirror their actual income cycles.</a:t>
            </a:r>
            <a:br>
              <a:rPr lang="en-US" sz="1000" dirty="0">
                <a:latin typeface="Aptos" panose="020B0004020202020204" pitchFamily="34" charset="0"/>
              </a:rPr>
            </a:br>
            <a:r>
              <a:rPr lang="en-US" sz="1000" dirty="0">
                <a:latin typeface="Aptos" panose="020B0004020202020204" pitchFamily="34" charset="0"/>
                <a:sym typeface="Wingdings" panose="05000000000000000000" pitchFamily="2" charset="2"/>
              </a:rPr>
              <a:t> </a:t>
            </a:r>
            <a:r>
              <a:rPr lang="en-US" sz="1000" dirty="0">
                <a:latin typeface="Aptos" panose="020B0004020202020204" pitchFamily="34" charset="0"/>
              </a:rPr>
              <a:t>By using voice, local language, and SMS, it converts awareness into behavior, building financial resilience and confidence in everyday life.</a:t>
            </a:r>
          </a:p>
          <a:p>
            <a:pPr marL="133350">
              <a:lnSpc>
                <a:spcPct val="115000"/>
              </a:lnSpc>
              <a:buClr>
                <a:srgbClr val="081D54"/>
              </a:buClr>
              <a:buSzPts val="1500"/>
            </a:pPr>
            <a:endParaRPr lang="en-US" sz="1000" dirty="0">
              <a:latin typeface="Aptos" panose="020B0004020202020204" pitchFamily="34" charset="0"/>
            </a:endParaRPr>
          </a:p>
          <a:p>
            <a:pPr marL="133350">
              <a:lnSpc>
                <a:spcPct val="115000"/>
              </a:lnSpc>
              <a:buClr>
                <a:srgbClr val="081D54"/>
              </a:buClr>
              <a:buSzPts val="1500"/>
            </a:pPr>
            <a:endParaRPr lang="en-US" sz="1000" dirty="0">
              <a:solidFill>
                <a:srgbClr val="616161"/>
              </a:solidFill>
              <a:latin typeface="Aptos" panose="020B0004020202020204" pitchFamily="34" charset="0"/>
              <a:ea typeface="Poppins"/>
              <a:cs typeface="Poppins"/>
              <a:sym typeface="Poppins"/>
            </a:endParaRPr>
          </a:p>
          <a:p>
            <a:pPr marL="457200" lvl="0" indent="-311150">
              <a:lnSpc>
                <a:spcPct val="115000"/>
              </a:lnSpc>
              <a:buClr>
                <a:srgbClr val="081D54"/>
              </a:buClr>
              <a:buSzPts val="1300"/>
              <a:buFont typeface="Poppins"/>
              <a:buChar char="●"/>
            </a:pPr>
            <a:r>
              <a:rPr lang="en-US" sz="1200" dirty="0">
                <a:solidFill>
                  <a:srgbClr val="616161"/>
                </a:solidFill>
                <a:latin typeface="Poppins"/>
                <a:ea typeface="Poppins"/>
                <a:cs typeface="Poppins"/>
                <a:sym typeface="Poppins"/>
              </a:rPr>
              <a:t>USP of the proposed solution</a:t>
            </a:r>
          </a:p>
          <a:p>
            <a:pPr marL="146050">
              <a:lnSpc>
                <a:spcPct val="115000"/>
              </a:lnSpc>
              <a:buClr>
                <a:srgbClr val="081D54"/>
              </a:buClr>
              <a:buSzPts val="1300"/>
            </a:pPr>
            <a:r>
              <a:rPr lang="en-US" sz="1200" dirty="0">
                <a:latin typeface="Aptos" panose="020B0004020202020204" pitchFamily="34" charset="0"/>
              </a:rPr>
              <a:t>Seasonal Cash flow Engine : Season-based financial life simulation tailored to farmers’ real income cycles, delivered through a   voice-first, multilingual, low-bandwidth platform.</a:t>
            </a:r>
            <a:br>
              <a:rPr lang="en-US" sz="1200" dirty="0">
                <a:latin typeface="Aptos" panose="020B0004020202020204" pitchFamily="34" charset="0"/>
              </a:rPr>
            </a:br>
            <a:r>
              <a:rPr lang="en-US" sz="1200" dirty="0">
                <a:latin typeface="Aptos" panose="020B0004020202020204" pitchFamily="34" charset="0"/>
              </a:rPr>
              <a:t>It focuses on behavior change through real-life decisions and consequences, not theoretical financial education.</a:t>
            </a:r>
            <a:endParaRPr sz="1000" dirty="0">
              <a:solidFill>
                <a:srgbClr val="202729"/>
              </a:solidFill>
              <a:latin typeface="Manrope SemiBold"/>
              <a:ea typeface="Manrope SemiBold"/>
              <a:cs typeface="Manrope SemiBold"/>
              <a:sym typeface="Manrope SemiBold"/>
            </a:endParaRPr>
          </a:p>
          <a:p>
            <a:pPr marL="0" lvl="0" indent="0" algn="l" rtl="0">
              <a:lnSpc>
                <a:spcPct val="115000"/>
              </a:lnSpc>
              <a:spcBef>
                <a:spcPts val="1200"/>
              </a:spcBef>
              <a:spcAft>
                <a:spcPts val="1200"/>
              </a:spcAft>
              <a:buSzPts val="935"/>
              <a:buNone/>
            </a:pPr>
            <a:endParaRPr sz="10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75" name="Google Shape;75;p16"/>
          <p:cNvSpPr txBox="1"/>
          <p:nvPr/>
        </p:nvSpPr>
        <p:spPr>
          <a:xfrm>
            <a:off x="311700" y="621553"/>
            <a:ext cx="4343971" cy="4195481"/>
          </a:xfrm>
          <a:prstGeom prst="rect">
            <a:avLst/>
          </a:prstGeom>
          <a:noFill/>
          <a:ln>
            <a:noFill/>
          </a:ln>
        </p:spPr>
        <p:txBody>
          <a:bodyPr spcFirstLastPara="1" wrap="square" lIns="91425" tIns="91425" rIns="91425" bIns="91425" anchor="t" anchorCtr="0">
            <a:normAutofit fontScale="92500"/>
          </a:bodyPr>
          <a:lstStyle/>
          <a:p>
            <a:pPr marL="0" lvl="0" indent="0" algn="l" rtl="0">
              <a:lnSpc>
                <a:spcPct val="115000"/>
              </a:lnSpc>
              <a:spcBef>
                <a:spcPts val="0"/>
              </a:spcBef>
              <a:spcAft>
                <a:spcPts val="0"/>
              </a:spcAft>
              <a:buSzPts val="935"/>
              <a:buNone/>
            </a:pPr>
            <a:r>
              <a:rPr lang="en-GB" sz="1700" b="1" u="sng" dirty="0">
                <a:solidFill>
                  <a:srgbClr val="202729"/>
                </a:solidFill>
                <a:latin typeface="Manrope"/>
                <a:ea typeface="Manrope"/>
                <a:cs typeface="Manrope"/>
                <a:sym typeface="Manrope"/>
              </a:rPr>
              <a:t>List of features offered by the solution : </a:t>
            </a:r>
          </a:p>
          <a:p>
            <a:pPr marL="0" lvl="0" indent="0" algn="l" rtl="0">
              <a:lnSpc>
                <a:spcPct val="115000"/>
              </a:lnSpc>
              <a:spcBef>
                <a:spcPts val="0"/>
              </a:spcBef>
              <a:spcAft>
                <a:spcPts val="0"/>
              </a:spcAft>
              <a:buSzPts val="935"/>
              <a:buNone/>
            </a:pPr>
            <a:endParaRPr lang="en-GB" sz="1700" b="1" u="sng" dirty="0">
              <a:solidFill>
                <a:srgbClr val="202729"/>
              </a:solidFill>
              <a:latin typeface="Manrope"/>
              <a:ea typeface="Manrope"/>
              <a:cs typeface="Manrope"/>
              <a:sym typeface="Manrope"/>
            </a:endParaRPr>
          </a:p>
          <a:p>
            <a:pPr marL="285750" lvl="0" indent="-285750">
              <a:lnSpc>
                <a:spcPct val="115000"/>
              </a:lnSpc>
              <a:buSzPts val="935"/>
              <a:buFont typeface="Wingdings" panose="05000000000000000000" pitchFamily="2" charset="2"/>
              <a:buChar char="q"/>
            </a:pPr>
            <a:r>
              <a:rPr lang="en-US" sz="1200" b="1" u="sng" dirty="0"/>
              <a:t>Seasonal Financial Life Simulator : </a:t>
            </a:r>
            <a:r>
              <a:rPr lang="en-US" sz="1200" dirty="0"/>
              <a:t>Simulates a full agricultural year with harvest-based income and year-round expense planning. </a:t>
            </a:r>
          </a:p>
          <a:p>
            <a:pPr marL="285750" lvl="0" indent="-285750">
              <a:lnSpc>
                <a:spcPct val="115000"/>
              </a:lnSpc>
              <a:buSzPts val="935"/>
              <a:buFont typeface="Wingdings" panose="05000000000000000000" pitchFamily="2" charset="2"/>
              <a:buChar char="q"/>
            </a:pPr>
            <a:r>
              <a:rPr lang="en-US" sz="1200" b="1" u="sng" dirty="0"/>
              <a:t>Budgeting &amp; Savings Allocation Engine : </a:t>
            </a:r>
            <a:r>
              <a:rPr lang="en-US" sz="1200" dirty="0"/>
              <a:t>Helps farmers allocate income across expenses, savings, investments, and emergencies. </a:t>
            </a:r>
          </a:p>
          <a:p>
            <a:pPr marL="285750" lvl="0" indent="-285750">
              <a:lnSpc>
                <a:spcPct val="115000"/>
              </a:lnSpc>
              <a:buSzPts val="935"/>
              <a:buFont typeface="Wingdings" panose="05000000000000000000" pitchFamily="2" charset="2"/>
              <a:buChar char="q"/>
            </a:pPr>
            <a:r>
              <a:rPr lang="en-US" sz="1200" b="1" u="sng" dirty="0"/>
              <a:t>Credit, Loan &amp; Insurance Simulators : </a:t>
            </a:r>
            <a:r>
              <a:rPr lang="en-US" sz="1200" dirty="0"/>
              <a:t>Teaches responsible borrowing, interest impact, and risk protection through real-life scenarios. </a:t>
            </a:r>
          </a:p>
          <a:p>
            <a:pPr marL="285750" lvl="0" indent="-285750">
              <a:lnSpc>
                <a:spcPct val="115000"/>
              </a:lnSpc>
              <a:buSzPts val="935"/>
              <a:buFont typeface="Wingdings" panose="05000000000000000000" pitchFamily="2" charset="2"/>
              <a:buChar char="q"/>
            </a:pPr>
            <a:r>
              <a:rPr lang="en-US" sz="1200" b="1" u="sng" dirty="0"/>
              <a:t>Digital Finance &amp; Scam Awareness Module : </a:t>
            </a:r>
            <a:r>
              <a:rPr lang="en-US" sz="1200" dirty="0"/>
              <a:t>Gamified UPI, OTP, and fraud detection simulations via voice/SMS. </a:t>
            </a:r>
          </a:p>
          <a:p>
            <a:pPr marL="285750" lvl="0" indent="-285750">
              <a:lnSpc>
                <a:spcPct val="115000"/>
              </a:lnSpc>
              <a:buSzPts val="935"/>
              <a:buFont typeface="Wingdings" panose="05000000000000000000" pitchFamily="2" charset="2"/>
              <a:buChar char="q"/>
            </a:pPr>
            <a:r>
              <a:rPr lang="en-US" sz="1200" b="1" u="sng" dirty="0"/>
              <a:t>Real-Time Financial Updates :</a:t>
            </a:r>
            <a:r>
              <a:rPr lang="en-US" sz="1200" b="1" dirty="0"/>
              <a:t> </a:t>
            </a:r>
            <a:r>
              <a:rPr lang="en-US" sz="1200" dirty="0"/>
              <a:t>Hyper-local financial news and government scheme alerts through SMS and voice. </a:t>
            </a:r>
          </a:p>
          <a:p>
            <a:pPr marL="285750" lvl="0" indent="-285750">
              <a:lnSpc>
                <a:spcPct val="115000"/>
              </a:lnSpc>
              <a:buSzPts val="935"/>
              <a:buFont typeface="Wingdings" panose="05000000000000000000" pitchFamily="2" charset="2"/>
              <a:buChar char="q"/>
            </a:pPr>
            <a:r>
              <a:rPr lang="en-US" sz="1200" b="1" u="sng" dirty="0"/>
              <a:t>Voice-First, Multilingual Interface : </a:t>
            </a:r>
            <a:r>
              <a:rPr lang="en-US" sz="1200" dirty="0"/>
              <a:t>Accessible in local languages with minimal text and offline-friendly design. </a:t>
            </a:r>
          </a:p>
          <a:p>
            <a:pPr marL="285750" lvl="0" indent="-285750">
              <a:lnSpc>
                <a:spcPct val="115000"/>
              </a:lnSpc>
              <a:buSzPts val="935"/>
              <a:buFont typeface="Wingdings" panose="05000000000000000000" pitchFamily="2" charset="2"/>
              <a:buChar char="q"/>
            </a:pPr>
            <a:r>
              <a:rPr lang="en-US" sz="1200" b="1" u="sng" dirty="0"/>
              <a:t>Financial Well-being Dashboard : </a:t>
            </a:r>
            <a:r>
              <a:rPr lang="en-US" sz="1200" dirty="0"/>
              <a:t>Tracks stress level, debt load, resilience score, points, and earned badges.</a:t>
            </a:r>
            <a:endParaRPr lang="en-GB" sz="1100" b="1" u="sng" dirty="0">
              <a:solidFill>
                <a:srgbClr val="202729"/>
              </a:solidFill>
              <a:latin typeface="Manrope"/>
              <a:ea typeface="Manrope"/>
              <a:cs typeface="Manrope"/>
              <a:sym typeface="Manrope"/>
            </a:endParaRPr>
          </a:p>
          <a:p>
            <a:pPr marL="0" lvl="0" indent="0" algn="l" rtl="0">
              <a:lnSpc>
                <a:spcPct val="115000"/>
              </a:lnSpc>
              <a:spcBef>
                <a:spcPts val="0"/>
              </a:spcBef>
              <a:spcAft>
                <a:spcPts val="0"/>
              </a:spcAft>
              <a:buSzPts val="935"/>
              <a:buNone/>
            </a:pPr>
            <a:endParaRPr sz="1200" b="1" u="sng" dirty="0">
              <a:solidFill>
                <a:srgbClr val="202729"/>
              </a:solidFill>
              <a:latin typeface="Manrope"/>
              <a:ea typeface="Manrope"/>
              <a:cs typeface="Manrope"/>
              <a:sym typeface="Manrope"/>
            </a:endParaRPr>
          </a:p>
          <a:p>
            <a:pPr marL="0" lvl="0" indent="0" algn="l" rtl="0">
              <a:lnSpc>
                <a:spcPct val="115000"/>
              </a:lnSpc>
              <a:spcBef>
                <a:spcPts val="1200"/>
              </a:spcBef>
              <a:spcAft>
                <a:spcPts val="1200"/>
              </a:spcAft>
              <a:buSzPts val="935"/>
              <a:buNone/>
            </a:pPr>
            <a:endParaRPr dirty="0">
              <a:solidFill>
                <a:srgbClr val="434343"/>
              </a:solidFill>
              <a:latin typeface="Manrope"/>
              <a:ea typeface="Manrope"/>
              <a:cs typeface="Manrope"/>
              <a:sym typeface="Manrope"/>
            </a:endParaRPr>
          </a:p>
        </p:txBody>
      </p:sp>
      <p:pic>
        <p:nvPicPr>
          <p:cNvPr id="3" name="Picture 2">
            <a:extLst>
              <a:ext uri="{FF2B5EF4-FFF2-40B4-BE49-F238E27FC236}">
                <a16:creationId xmlns:a16="http://schemas.microsoft.com/office/drawing/2014/main" id="{9C6D8E89-7561-1432-0C9D-7C9FA240A53B}"/>
              </a:ext>
            </a:extLst>
          </p:cNvPr>
          <p:cNvPicPr>
            <a:picLocks noChangeAspect="1"/>
          </p:cNvPicPr>
          <p:nvPr/>
        </p:nvPicPr>
        <p:blipFill>
          <a:blip r:embed="rId4"/>
          <a:stretch>
            <a:fillRect/>
          </a:stretch>
        </p:blipFill>
        <p:spPr>
          <a:xfrm>
            <a:off x="4793716" y="1255059"/>
            <a:ext cx="4212257" cy="3015876"/>
          </a:xfrm>
          <a:prstGeom prst="rect">
            <a:avLst/>
          </a:prstGeom>
        </p:spPr>
      </p:pic>
      <p:cxnSp>
        <p:nvCxnSpPr>
          <p:cNvPr id="10" name="Straight Connector 9">
            <a:extLst>
              <a:ext uri="{FF2B5EF4-FFF2-40B4-BE49-F238E27FC236}">
                <a16:creationId xmlns:a16="http://schemas.microsoft.com/office/drawing/2014/main" id="{D31B42C6-E098-A7DE-2972-E7034EE74A10}"/>
              </a:ext>
            </a:extLst>
          </p:cNvPr>
          <p:cNvCxnSpPr/>
          <p:nvPr/>
        </p:nvCxnSpPr>
        <p:spPr>
          <a:xfrm>
            <a:off x="4655671" y="944282"/>
            <a:ext cx="0" cy="3872752"/>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1" name="Google Shape;81;p17"/>
          <p:cNvSpPr txBox="1"/>
          <p:nvPr/>
        </p:nvSpPr>
        <p:spPr>
          <a:xfrm>
            <a:off x="0" y="426628"/>
            <a:ext cx="6101976" cy="2944101"/>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u="sng" dirty="0">
                <a:solidFill>
                  <a:srgbClr val="202729"/>
                </a:solidFill>
                <a:latin typeface="Manrope"/>
                <a:ea typeface="Manrope"/>
                <a:cs typeface="Manrope"/>
                <a:sym typeface="Manrope"/>
              </a:rPr>
              <a:t>Process flow diagram or Use-case diagram:</a:t>
            </a:r>
            <a:endParaRPr sz="1700" b="1" u="sng" dirty="0">
              <a:solidFill>
                <a:srgbClr val="202729"/>
              </a:solidFill>
              <a:latin typeface="Manrope"/>
              <a:ea typeface="Manrope"/>
              <a:cs typeface="Manrope"/>
              <a:sym typeface="Manrope"/>
            </a:endParaRPr>
          </a:p>
        </p:txBody>
      </p:sp>
      <p:pic>
        <p:nvPicPr>
          <p:cNvPr id="5" name="Picture 4">
            <a:extLst>
              <a:ext uri="{FF2B5EF4-FFF2-40B4-BE49-F238E27FC236}">
                <a16:creationId xmlns:a16="http://schemas.microsoft.com/office/drawing/2014/main" id="{D5F17F2F-4A51-4B77-3231-2B153ED98F5D}"/>
              </a:ext>
            </a:extLst>
          </p:cNvPr>
          <p:cNvPicPr>
            <a:picLocks noChangeAspect="1"/>
          </p:cNvPicPr>
          <p:nvPr/>
        </p:nvPicPr>
        <p:blipFill>
          <a:blip r:embed="rId4"/>
          <a:srcRect l="1764"/>
          <a:stretch>
            <a:fillRect/>
          </a:stretch>
        </p:blipFill>
        <p:spPr>
          <a:xfrm>
            <a:off x="80682" y="956235"/>
            <a:ext cx="8982636" cy="405835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8"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pic>
        <p:nvPicPr>
          <p:cNvPr id="3" name="Picture 2">
            <a:extLst>
              <a:ext uri="{FF2B5EF4-FFF2-40B4-BE49-F238E27FC236}">
                <a16:creationId xmlns:a16="http://schemas.microsoft.com/office/drawing/2014/main" id="{6BC5F1F4-2ACC-C74A-AC4E-A28AF04D65A8}"/>
              </a:ext>
            </a:extLst>
          </p:cNvPr>
          <p:cNvPicPr>
            <a:picLocks noChangeAspect="1"/>
          </p:cNvPicPr>
          <p:nvPr/>
        </p:nvPicPr>
        <p:blipFill>
          <a:blip r:embed="rId4"/>
          <a:stretch>
            <a:fillRect/>
          </a:stretch>
        </p:blipFill>
        <p:spPr>
          <a:xfrm>
            <a:off x="0" y="491049"/>
            <a:ext cx="9012518" cy="45182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a:extLst>
            <a:ext uri="{FF2B5EF4-FFF2-40B4-BE49-F238E27FC236}">
              <a16:creationId xmlns:a16="http://schemas.microsoft.com/office/drawing/2014/main" id="{EAA96289-95E0-307D-2879-31DFDF47760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EF4C55D-AAF4-1733-0FD9-E608F0E45B45}"/>
              </a:ext>
            </a:extLst>
          </p:cNvPr>
          <p:cNvPicPr>
            <a:picLocks noChangeAspect="1"/>
          </p:cNvPicPr>
          <p:nvPr/>
        </p:nvPicPr>
        <p:blipFill>
          <a:blip r:embed="rId3"/>
          <a:stretch>
            <a:fillRect/>
          </a:stretch>
        </p:blipFill>
        <p:spPr>
          <a:xfrm>
            <a:off x="1501821" y="426628"/>
            <a:ext cx="6399073" cy="4632402"/>
          </a:xfrm>
          <a:prstGeom prst="rect">
            <a:avLst/>
          </a:prstGeom>
        </p:spPr>
      </p:pic>
      <p:pic>
        <p:nvPicPr>
          <p:cNvPr id="80" name="Google Shape;80;p17" title="Artboarddfghjk – 6.png">
            <a:extLst>
              <a:ext uri="{FF2B5EF4-FFF2-40B4-BE49-F238E27FC236}">
                <a16:creationId xmlns:a16="http://schemas.microsoft.com/office/drawing/2014/main" id="{2E9DDFB6-E377-73DE-3BE6-D4427DA3272E}"/>
              </a:ext>
            </a:extLst>
          </p:cNvPr>
          <p:cNvPicPr preferRelativeResize="0"/>
          <p:nvPr/>
        </p:nvPicPr>
        <p:blipFill rotWithShape="1">
          <a:blip r:embed="rId4">
            <a:alphaModFix/>
          </a:blip>
          <a:srcRect/>
          <a:stretch/>
        </p:blipFill>
        <p:spPr>
          <a:xfrm>
            <a:off x="0" y="0"/>
            <a:ext cx="9144018" cy="5143501"/>
          </a:xfrm>
          <a:prstGeom prst="rect">
            <a:avLst/>
          </a:prstGeom>
          <a:noFill/>
          <a:ln>
            <a:noFill/>
          </a:ln>
        </p:spPr>
      </p:pic>
      <p:sp>
        <p:nvSpPr>
          <p:cNvPr id="81" name="Google Shape;81;p17">
            <a:extLst>
              <a:ext uri="{FF2B5EF4-FFF2-40B4-BE49-F238E27FC236}">
                <a16:creationId xmlns:a16="http://schemas.microsoft.com/office/drawing/2014/main" id="{366C9F7A-17BF-5C62-5A7C-8244B8976BCA}"/>
              </a:ext>
            </a:extLst>
          </p:cNvPr>
          <p:cNvSpPr txBox="1"/>
          <p:nvPr/>
        </p:nvSpPr>
        <p:spPr>
          <a:xfrm>
            <a:off x="0" y="426628"/>
            <a:ext cx="8724724" cy="4073015"/>
          </a:xfrm>
          <a:prstGeom prst="rect">
            <a:avLst/>
          </a:prstGeom>
          <a:noFill/>
          <a:ln>
            <a:noFill/>
          </a:ln>
        </p:spPr>
        <p:txBody>
          <a:bodyPr spcFirstLastPara="1" wrap="square" lIns="91425" tIns="91425" rIns="91425" bIns="91425" anchor="t" anchorCtr="0">
            <a:normAutofit/>
          </a:bodyPr>
          <a:lstStyle/>
          <a:p>
            <a:pPr lvl="0">
              <a:lnSpc>
                <a:spcPct val="115000"/>
              </a:lnSpc>
              <a:spcAft>
                <a:spcPts val="1200"/>
              </a:spcAft>
              <a:buSzPts val="935"/>
            </a:pPr>
            <a:r>
              <a:rPr lang="en-US" sz="1700" b="1" u="sng" dirty="0">
                <a:solidFill>
                  <a:srgbClr val="202729"/>
                </a:solidFill>
                <a:latin typeface="Manrope"/>
                <a:ea typeface="Manrope"/>
                <a:cs typeface="Manrope"/>
                <a:sym typeface="Manrope"/>
              </a:rPr>
              <a:t>Architecture diagram of the proposed solution:</a:t>
            </a:r>
            <a:endParaRPr lang="en-US" sz="1800" u="sng" dirty="0">
              <a:solidFill>
                <a:srgbClr val="434343"/>
              </a:solidFill>
              <a:latin typeface="Manrope"/>
              <a:ea typeface="Manrope"/>
              <a:cs typeface="Manrope"/>
              <a:sym typeface="Manrope"/>
            </a:endParaRPr>
          </a:p>
        </p:txBody>
      </p:sp>
    </p:spTree>
    <p:extLst>
      <p:ext uri="{BB962C8B-B14F-4D97-AF65-F5344CB8AC3E}">
        <p14:creationId xmlns:p14="http://schemas.microsoft.com/office/powerpoint/2010/main" val="1841003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9" name="Google Shape;99;p20"/>
          <p:cNvSpPr txBox="1"/>
          <p:nvPr/>
        </p:nvSpPr>
        <p:spPr>
          <a:xfrm>
            <a:off x="204124" y="611840"/>
            <a:ext cx="4146747" cy="4396442"/>
          </a:xfrm>
          <a:prstGeom prst="rect">
            <a:avLst/>
          </a:prstGeom>
          <a:noFill/>
          <a:ln>
            <a:noFill/>
          </a:ln>
        </p:spPr>
        <p:txBody>
          <a:bodyPr spcFirstLastPara="1" wrap="square" lIns="91425" tIns="91425" rIns="91425" bIns="91425" anchor="t" anchorCtr="0">
            <a:normAutofit fontScale="47500" lnSpcReduction="20000"/>
          </a:bodyPr>
          <a:lstStyle/>
          <a:p>
            <a:pPr lvl="0">
              <a:lnSpc>
                <a:spcPct val="115000"/>
              </a:lnSpc>
              <a:spcAft>
                <a:spcPts val="1200"/>
              </a:spcAft>
              <a:buSzPts val="935"/>
            </a:pPr>
            <a:r>
              <a:rPr lang="en-US" sz="2900" b="1" u="sng" dirty="0">
                <a:latin typeface="Aptos" panose="020B0004020202020204" pitchFamily="34" charset="0"/>
              </a:rPr>
              <a:t>Technologies to be used in the solution : </a:t>
            </a:r>
          </a:p>
          <a:p>
            <a:pPr lvl="0">
              <a:lnSpc>
                <a:spcPct val="115000"/>
              </a:lnSpc>
              <a:spcAft>
                <a:spcPts val="1200"/>
              </a:spcAft>
              <a:buSzPts val="935"/>
            </a:pPr>
            <a:r>
              <a:rPr lang="en-IN" sz="1800" b="1" dirty="0"/>
              <a:t>Frontend</a:t>
            </a:r>
            <a:r>
              <a:rPr lang="en-IN" sz="1800" dirty="0"/>
              <a:t>: React + TypeScript with PWA support for offline-first, low-bandwidth, web-based dashboards </a:t>
            </a:r>
          </a:p>
          <a:p>
            <a:pPr lvl="0">
              <a:lnSpc>
                <a:spcPct val="115000"/>
              </a:lnSpc>
              <a:spcAft>
                <a:spcPts val="1200"/>
              </a:spcAft>
              <a:buSzPts val="935"/>
            </a:pPr>
            <a:r>
              <a:rPr lang="en-IN" sz="1800" b="1" dirty="0"/>
              <a:t>Backend</a:t>
            </a:r>
            <a:r>
              <a:rPr lang="en-IN" sz="1800" dirty="0"/>
              <a:t>: Node.js + Express (TypeScript) for seasonal simulation logic, scoring engine, and leaderboard management </a:t>
            </a:r>
          </a:p>
          <a:p>
            <a:pPr lvl="0">
              <a:lnSpc>
                <a:spcPct val="115000"/>
              </a:lnSpc>
              <a:spcAft>
                <a:spcPts val="1200"/>
              </a:spcAft>
              <a:buSzPts val="935"/>
            </a:pPr>
            <a:r>
              <a:rPr lang="en-IN" sz="1800" b="1" dirty="0"/>
              <a:t>Database</a:t>
            </a:r>
            <a:r>
              <a:rPr lang="en-IN" sz="1800" dirty="0"/>
              <a:t>: MongoDB for flexible storage of seasonal data, user decisions, and behaviour history </a:t>
            </a:r>
          </a:p>
          <a:p>
            <a:pPr lvl="0">
              <a:lnSpc>
                <a:spcPct val="115000"/>
              </a:lnSpc>
              <a:spcAft>
                <a:spcPts val="1200"/>
              </a:spcAft>
              <a:buSzPts val="935"/>
            </a:pPr>
            <a:r>
              <a:rPr lang="en-IN" sz="1800" b="1" dirty="0"/>
              <a:t>AI Engine: </a:t>
            </a:r>
            <a:r>
              <a:rPr lang="en-IN" sz="1800" dirty="0"/>
              <a:t>Google Gemini for contextual financial guidance, decision feedback, and scam explanations in simple language </a:t>
            </a:r>
          </a:p>
          <a:p>
            <a:pPr lvl="0">
              <a:lnSpc>
                <a:spcPct val="115000"/>
              </a:lnSpc>
              <a:spcAft>
                <a:spcPts val="1200"/>
              </a:spcAft>
              <a:buSzPts val="935"/>
            </a:pPr>
            <a:r>
              <a:rPr lang="en-IN" sz="1800" b="1" dirty="0"/>
              <a:t>Voice &amp; Language: </a:t>
            </a:r>
            <a:r>
              <a:rPr lang="en-IN" sz="1800" dirty="0"/>
              <a:t>Speech-to-Text (STT) and Text-to-Speech (TTS) APIs supporting regional languages for voice-first interaction </a:t>
            </a:r>
          </a:p>
          <a:p>
            <a:pPr lvl="0">
              <a:lnSpc>
                <a:spcPct val="115000"/>
              </a:lnSpc>
              <a:spcAft>
                <a:spcPts val="1200"/>
              </a:spcAft>
              <a:buSzPts val="935"/>
            </a:pPr>
            <a:r>
              <a:rPr lang="en-IN" sz="1800" b="1" dirty="0"/>
              <a:t>Communication: </a:t>
            </a:r>
            <a:r>
              <a:rPr lang="en-IN" sz="1800" dirty="0"/>
              <a:t>Twilio APIs for SMS alerts and voice-call based scam simulations (works on feature phones) </a:t>
            </a:r>
          </a:p>
          <a:p>
            <a:pPr lvl="0">
              <a:lnSpc>
                <a:spcPct val="115000"/>
              </a:lnSpc>
              <a:spcAft>
                <a:spcPts val="1200"/>
              </a:spcAft>
              <a:buSzPts val="935"/>
            </a:pPr>
            <a:r>
              <a:rPr lang="en-IN" sz="1800" b="1" dirty="0"/>
              <a:t>Analytics &amp; Intelligence: </a:t>
            </a:r>
            <a:r>
              <a:rPr lang="en-IN" sz="1800" dirty="0"/>
              <a:t>AI + rule-based models to compute Stress Meter and Financial Resilience Index from user decision patterns </a:t>
            </a:r>
          </a:p>
          <a:p>
            <a:pPr lvl="0">
              <a:lnSpc>
                <a:spcPct val="115000"/>
              </a:lnSpc>
              <a:spcAft>
                <a:spcPts val="1200"/>
              </a:spcAft>
              <a:buSzPts val="935"/>
            </a:pPr>
            <a:r>
              <a:rPr lang="en-IN" sz="1800" b="1" dirty="0"/>
              <a:t>Caching &amp; Performance : </a:t>
            </a:r>
            <a:r>
              <a:rPr lang="en-IN" sz="1800" dirty="0"/>
              <a:t>Redis for fast leaderboard updates and session handling </a:t>
            </a:r>
          </a:p>
          <a:p>
            <a:pPr lvl="0">
              <a:lnSpc>
                <a:spcPct val="115000"/>
              </a:lnSpc>
              <a:spcAft>
                <a:spcPts val="1200"/>
              </a:spcAft>
              <a:buSzPts val="935"/>
            </a:pPr>
            <a:r>
              <a:rPr lang="en-IN" sz="1800" b="1" dirty="0"/>
              <a:t>Security</a:t>
            </a:r>
            <a:r>
              <a:rPr lang="en-IN" sz="1800" dirty="0"/>
              <a:t>: JWT-based authentication with minimal data storage and privacy-first design</a:t>
            </a:r>
            <a:endParaRPr lang="en-GB" sz="1800" b="1" u="sng" dirty="0">
              <a:solidFill>
                <a:srgbClr val="202729"/>
              </a:solidFill>
              <a:latin typeface="Manrope"/>
              <a:ea typeface="Manrope"/>
              <a:cs typeface="Manrope"/>
              <a:sym typeface="Manrope"/>
            </a:endParaRPr>
          </a:p>
        </p:txBody>
      </p:sp>
      <p:pic>
        <p:nvPicPr>
          <p:cNvPr id="3" name="Picture 2">
            <a:extLst>
              <a:ext uri="{FF2B5EF4-FFF2-40B4-BE49-F238E27FC236}">
                <a16:creationId xmlns:a16="http://schemas.microsoft.com/office/drawing/2014/main" id="{CBB36D3F-62DE-6517-0FF7-281A4387237A}"/>
              </a:ext>
            </a:extLst>
          </p:cNvPr>
          <p:cNvPicPr>
            <a:picLocks noChangeAspect="1"/>
          </p:cNvPicPr>
          <p:nvPr/>
        </p:nvPicPr>
        <p:blipFill>
          <a:blip r:embed="rId4"/>
          <a:stretch>
            <a:fillRect/>
          </a:stretch>
        </p:blipFill>
        <p:spPr>
          <a:xfrm>
            <a:off x="4400409" y="723154"/>
            <a:ext cx="4581303" cy="39302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05" name="Google Shape;105;p21"/>
          <p:cNvSpPr txBox="1"/>
          <p:nvPr/>
        </p:nvSpPr>
        <p:spPr>
          <a:xfrm>
            <a:off x="198147" y="528867"/>
            <a:ext cx="3877806" cy="4252309"/>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SzPts val="935"/>
              <a:buNone/>
            </a:pPr>
            <a:r>
              <a:rPr lang="en-GB" sz="5600" b="1" u="sng" dirty="0">
                <a:solidFill>
                  <a:srgbClr val="202729"/>
                </a:solidFill>
                <a:latin typeface="Manrope"/>
                <a:ea typeface="Manrope"/>
                <a:cs typeface="Manrope"/>
                <a:sym typeface="Manrope"/>
              </a:rPr>
              <a:t>Estimated implementation cost (optional):</a:t>
            </a:r>
          </a:p>
          <a:p>
            <a:pPr marL="0" lvl="0" indent="0" algn="l" rtl="0">
              <a:lnSpc>
                <a:spcPct val="115000"/>
              </a:lnSpc>
              <a:spcBef>
                <a:spcPts val="0"/>
              </a:spcBef>
              <a:spcAft>
                <a:spcPts val="1200"/>
              </a:spcAft>
              <a:buSzPts val="935"/>
              <a:buNone/>
            </a:pPr>
            <a:endParaRPr lang="en-GB" sz="3600" b="1" dirty="0">
              <a:solidFill>
                <a:srgbClr val="202729"/>
              </a:solidFill>
              <a:latin typeface="Manrope"/>
              <a:ea typeface="Manrope"/>
              <a:cs typeface="Manrope"/>
              <a:sym typeface="Manrope"/>
            </a:endParaRPr>
          </a:p>
          <a:p>
            <a:pPr lvl="0">
              <a:lnSpc>
                <a:spcPct val="115000"/>
              </a:lnSpc>
              <a:spcAft>
                <a:spcPts val="1200"/>
              </a:spcAft>
              <a:buSzPts val="935"/>
            </a:pPr>
            <a:r>
              <a:rPr lang="en-IN" sz="4800" b="1" dirty="0">
                <a:latin typeface="Aptos" panose="020B0004020202020204" pitchFamily="34" charset="0"/>
              </a:rPr>
              <a:t>Below estimation is for 100-200 users load : </a:t>
            </a:r>
          </a:p>
          <a:p>
            <a:pPr lvl="0">
              <a:lnSpc>
                <a:spcPct val="120000"/>
              </a:lnSpc>
              <a:spcAft>
                <a:spcPts val="1200"/>
              </a:spcAft>
              <a:buSzPts val="935"/>
            </a:pPr>
            <a:r>
              <a:rPr lang="en-IN" sz="4000" b="1" dirty="0">
                <a:latin typeface="Aptos" panose="020B0004020202020204" pitchFamily="34" charset="0"/>
              </a:rPr>
              <a:t>Frontend (React + TypeScript + PWA): </a:t>
            </a:r>
            <a:r>
              <a:rPr lang="en-IN" sz="4000" dirty="0">
                <a:latin typeface="Aptos" panose="020B0004020202020204" pitchFamily="34" charset="0"/>
              </a:rPr>
              <a:t>₹0 (open-source, self-developed) </a:t>
            </a:r>
          </a:p>
          <a:p>
            <a:pPr lvl="0">
              <a:lnSpc>
                <a:spcPct val="120000"/>
              </a:lnSpc>
              <a:spcAft>
                <a:spcPts val="1200"/>
              </a:spcAft>
              <a:buSzPts val="935"/>
            </a:pPr>
            <a:r>
              <a:rPr lang="en-IN" sz="4000" b="1" dirty="0">
                <a:latin typeface="Aptos" panose="020B0004020202020204" pitchFamily="34" charset="0"/>
              </a:rPr>
              <a:t>Backend Hosting (Node.js + Express): </a:t>
            </a:r>
            <a:r>
              <a:rPr lang="en-IN" sz="4000" dirty="0">
                <a:latin typeface="Aptos" panose="020B0004020202020204" pitchFamily="34" charset="0"/>
              </a:rPr>
              <a:t>₹1,000 –₹2,000 </a:t>
            </a:r>
          </a:p>
          <a:p>
            <a:pPr lvl="0">
              <a:lnSpc>
                <a:spcPct val="120000"/>
              </a:lnSpc>
              <a:spcAft>
                <a:spcPts val="1200"/>
              </a:spcAft>
              <a:buSzPts val="935"/>
            </a:pPr>
            <a:r>
              <a:rPr lang="en-IN" sz="4000" b="1" dirty="0">
                <a:latin typeface="Aptos" panose="020B0004020202020204" pitchFamily="34" charset="0"/>
              </a:rPr>
              <a:t>Database (MongoDB Atlas –shared tier):</a:t>
            </a:r>
            <a:r>
              <a:rPr lang="en-IN" sz="4000" dirty="0">
                <a:latin typeface="Aptos" panose="020B0004020202020204" pitchFamily="34" charset="0"/>
              </a:rPr>
              <a:t> ₹0 –₹500 </a:t>
            </a:r>
          </a:p>
          <a:p>
            <a:pPr lvl="0">
              <a:lnSpc>
                <a:spcPct val="120000"/>
              </a:lnSpc>
              <a:spcAft>
                <a:spcPts val="1200"/>
              </a:spcAft>
              <a:buSzPts val="935"/>
            </a:pPr>
            <a:r>
              <a:rPr lang="en-IN" sz="4000" b="1" dirty="0">
                <a:latin typeface="Aptos" panose="020B0004020202020204" pitchFamily="34" charset="0"/>
              </a:rPr>
              <a:t>AI (Google Gemini API):  </a:t>
            </a:r>
            <a:r>
              <a:rPr lang="en-IN" sz="4000" dirty="0">
                <a:latin typeface="Aptos" panose="020B0004020202020204" pitchFamily="34" charset="0"/>
              </a:rPr>
              <a:t>₹10,000 –₹15,000 </a:t>
            </a:r>
          </a:p>
          <a:p>
            <a:pPr lvl="0">
              <a:lnSpc>
                <a:spcPct val="120000"/>
              </a:lnSpc>
              <a:spcAft>
                <a:spcPts val="1200"/>
              </a:spcAft>
              <a:buSzPts val="935"/>
            </a:pPr>
            <a:r>
              <a:rPr lang="en-IN" sz="4000" b="1" dirty="0">
                <a:latin typeface="Aptos" panose="020B0004020202020204" pitchFamily="34" charset="0"/>
              </a:rPr>
              <a:t>Voice (STT + TTS – regional languages): </a:t>
            </a:r>
            <a:r>
              <a:rPr lang="en-IN" sz="4000" dirty="0">
                <a:latin typeface="Aptos" panose="020B0004020202020204" pitchFamily="34" charset="0"/>
              </a:rPr>
              <a:t>₹1,500 –₹3,000 </a:t>
            </a:r>
          </a:p>
          <a:p>
            <a:pPr lvl="0">
              <a:lnSpc>
                <a:spcPct val="120000"/>
              </a:lnSpc>
              <a:spcAft>
                <a:spcPts val="1200"/>
              </a:spcAft>
              <a:buSzPts val="935"/>
            </a:pPr>
            <a:r>
              <a:rPr lang="en-IN" sz="4000" b="1" dirty="0">
                <a:latin typeface="Aptos" panose="020B0004020202020204" pitchFamily="34" charset="0"/>
              </a:rPr>
              <a:t>SMS &amp; Voice (Twilio): </a:t>
            </a:r>
            <a:r>
              <a:rPr lang="en-IN" sz="4000" dirty="0">
                <a:latin typeface="Aptos" panose="020B0004020202020204" pitchFamily="34" charset="0"/>
              </a:rPr>
              <a:t>₹1,000 – ₹2,000 </a:t>
            </a:r>
          </a:p>
          <a:p>
            <a:pPr lvl="0">
              <a:lnSpc>
                <a:spcPct val="120000"/>
              </a:lnSpc>
              <a:spcAft>
                <a:spcPts val="1200"/>
              </a:spcAft>
              <a:buSzPts val="935"/>
            </a:pPr>
            <a:r>
              <a:rPr lang="en-IN" sz="4000" b="1" dirty="0">
                <a:latin typeface="Aptos" panose="020B0004020202020204" pitchFamily="34" charset="0"/>
              </a:rPr>
              <a:t>Monitoring &amp; Logs:</a:t>
            </a:r>
            <a:r>
              <a:rPr lang="en-IN" sz="4000" dirty="0">
                <a:latin typeface="Aptos" panose="020B0004020202020204" pitchFamily="34" charset="0"/>
              </a:rPr>
              <a:t> ₹300 –₹500 </a:t>
            </a:r>
          </a:p>
          <a:p>
            <a:pPr lvl="0">
              <a:lnSpc>
                <a:spcPct val="120000"/>
              </a:lnSpc>
              <a:spcAft>
                <a:spcPts val="1200"/>
              </a:spcAft>
              <a:buSzPts val="935"/>
            </a:pPr>
            <a:r>
              <a:rPr lang="en-IN" sz="4000" b="1" dirty="0">
                <a:latin typeface="Aptos" panose="020B0004020202020204" pitchFamily="34" charset="0"/>
              </a:rPr>
              <a:t>Total Monthly Cost (MVP): </a:t>
            </a:r>
            <a:r>
              <a:rPr lang="en-IN" sz="4000" dirty="0">
                <a:latin typeface="Aptos" panose="020B0004020202020204" pitchFamily="34" charset="0"/>
              </a:rPr>
              <a:t>₹15,000 –₹20,000 </a:t>
            </a:r>
          </a:p>
          <a:p>
            <a:pPr lvl="0">
              <a:lnSpc>
                <a:spcPct val="120000"/>
              </a:lnSpc>
              <a:spcAft>
                <a:spcPts val="1200"/>
              </a:spcAft>
              <a:buSzPts val="935"/>
            </a:pPr>
            <a:r>
              <a:rPr lang="en-IN" sz="4000" b="1" dirty="0">
                <a:latin typeface="Aptos" panose="020B0004020202020204" pitchFamily="34" charset="0"/>
              </a:rPr>
              <a:t>Yearly Cost (Same Scale, Optimized Usage) </a:t>
            </a:r>
          </a:p>
          <a:p>
            <a:pPr lvl="0">
              <a:lnSpc>
                <a:spcPct val="120000"/>
              </a:lnSpc>
              <a:spcAft>
                <a:spcPts val="1200"/>
              </a:spcAft>
              <a:buSzPts val="935"/>
            </a:pPr>
            <a:r>
              <a:rPr lang="en-IN" sz="4000" b="1" dirty="0">
                <a:latin typeface="Aptos" panose="020B0004020202020204" pitchFamily="34" charset="0"/>
              </a:rPr>
              <a:t>Total Annual Cost:₹60,000 –₹1.2 Lakhs</a:t>
            </a:r>
            <a:endParaRPr sz="4000" b="1" dirty="0">
              <a:solidFill>
                <a:srgbClr val="434343"/>
              </a:solidFill>
              <a:latin typeface="Aptos" panose="020B0004020202020204" pitchFamily="34" charset="0"/>
              <a:ea typeface="Manrope"/>
              <a:cs typeface="Manrope"/>
              <a:sym typeface="Manrope"/>
            </a:endParaRPr>
          </a:p>
        </p:txBody>
      </p:sp>
      <p:pic>
        <p:nvPicPr>
          <p:cNvPr id="3" name="Picture 2">
            <a:extLst>
              <a:ext uri="{FF2B5EF4-FFF2-40B4-BE49-F238E27FC236}">
                <a16:creationId xmlns:a16="http://schemas.microsoft.com/office/drawing/2014/main" id="{AED4AE0C-E221-36F6-2063-3A43DFBBA635}"/>
              </a:ext>
            </a:extLst>
          </p:cNvPr>
          <p:cNvPicPr>
            <a:picLocks noChangeAspect="1"/>
          </p:cNvPicPr>
          <p:nvPr/>
        </p:nvPicPr>
        <p:blipFill>
          <a:blip r:embed="rId4"/>
          <a:stretch>
            <a:fillRect/>
          </a:stretch>
        </p:blipFill>
        <p:spPr>
          <a:xfrm>
            <a:off x="5277224" y="693787"/>
            <a:ext cx="3557894" cy="39224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2"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11" name="Google Shape;111;p22"/>
          <p:cNvSpPr txBox="1"/>
          <p:nvPr/>
        </p:nvSpPr>
        <p:spPr>
          <a:xfrm>
            <a:off x="281818" y="549835"/>
            <a:ext cx="8712770" cy="4320989"/>
          </a:xfrm>
          <a:prstGeom prst="rect">
            <a:avLst/>
          </a:prstGeom>
          <a:noFill/>
          <a:ln>
            <a:noFill/>
          </a:ln>
        </p:spPr>
        <p:txBody>
          <a:bodyPr spcFirstLastPara="1" wrap="square" lIns="91425" tIns="91425" rIns="91425" bIns="91425" anchor="t" anchorCtr="0">
            <a:normAutofit fontScale="47500" lnSpcReduction="20000"/>
          </a:bodyPr>
          <a:lstStyle/>
          <a:p>
            <a:pPr marL="0" lvl="0" indent="0" algn="l" rtl="0">
              <a:lnSpc>
                <a:spcPct val="115000"/>
              </a:lnSpc>
              <a:spcBef>
                <a:spcPts val="0"/>
              </a:spcBef>
              <a:spcAft>
                <a:spcPts val="1200"/>
              </a:spcAft>
              <a:buClr>
                <a:srgbClr val="000000"/>
              </a:buClr>
              <a:buSzPts val="935"/>
              <a:buFont typeface="Arial"/>
              <a:buNone/>
            </a:pPr>
            <a:r>
              <a:rPr lang="en-GB" sz="3800" b="1" u="sng" dirty="0">
                <a:solidFill>
                  <a:srgbClr val="202729"/>
                </a:solidFill>
                <a:latin typeface="Manrope"/>
                <a:ea typeface="Manrope"/>
                <a:cs typeface="Manrope"/>
                <a:sym typeface="Manrope"/>
              </a:rPr>
              <a:t>Add as per the requirements for the hackathon:</a:t>
            </a:r>
          </a:p>
          <a:p>
            <a:pPr marL="0" lvl="0" indent="0" algn="l" rtl="0">
              <a:lnSpc>
                <a:spcPct val="115000"/>
              </a:lnSpc>
              <a:spcBef>
                <a:spcPts val="0"/>
              </a:spcBef>
              <a:spcAft>
                <a:spcPts val="1200"/>
              </a:spcAft>
              <a:buClr>
                <a:srgbClr val="000000"/>
              </a:buClr>
              <a:buSzPts val="935"/>
              <a:buFont typeface="Arial"/>
              <a:buNone/>
            </a:pPr>
            <a:endParaRPr lang="en-GB" sz="1700" b="1" dirty="0">
              <a:solidFill>
                <a:srgbClr val="202729"/>
              </a:solidFill>
              <a:latin typeface="Manrope"/>
              <a:ea typeface="Manrope"/>
              <a:cs typeface="Manrope"/>
              <a:sym typeface="Manrope"/>
            </a:endParaRPr>
          </a:p>
          <a:p>
            <a:pPr lvl="0">
              <a:lnSpc>
                <a:spcPct val="115000"/>
              </a:lnSpc>
              <a:spcAft>
                <a:spcPts val="1200"/>
              </a:spcAft>
              <a:buSzPts val="935"/>
            </a:pPr>
            <a:r>
              <a:rPr lang="en-US" sz="2900" b="1" dirty="0">
                <a:latin typeface="Aptos" panose="020B0004020202020204" pitchFamily="34" charset="0"/>
              </a:rPr>
              <a:t>Financial Literacy Simulation: Process Flow (Hackathon Requirements)</a:t>
            </a:r>
          </a:p>
          <a:p>
            <a:pPr lvl="0">
              <a:lnSpc>
                <a:spcPct val="115000"/>
              </a:lnSpc>
              <a:spcAft>
                <a:spcPts val="1200"/>
              </a:spcAft>
              <a:buSzPts val="935"/>
            </a:pPr>
            <a:r>
              <a:rPr lang="en-US" sz="2900" b="1" dirty="0">
                <a:latin typeface="Aptos" panose="020B0004020202020204" pitchFamily="34" charset="0"/>
              </a:rPr>
              <a:t>• Onboarding: </a:t>
            </a:r>
            <a:r>
              <a:rPr lang="en-US" sz="2900" dirty="0">
                <a:latin typeface="Aptos" panose="020B0004020202020204" pitchFamily="34" charset="0"/>
              </a:rPr>
              <a:t>Farmer selects local language (voice-supported) and inputs basic crop type and seasonal cycle. </a:t>
            </a:r>
          </a:p>
          <a:p>
            <a:pPr lvl="0">
              <a:lnSpc>
                <a:spcPct val="115000"/>
              </a:lnSpc>
              <a:spcAft>
                <a:spcPts val="1200"/>
              </a:spcAft>
              <a:buSzPts val="935"/>
            </a:pPr>
            <a:r>
              <a:rPr lang="en-US" sz="2900" dirty="0">
                <a:latin typeface="Aptos" panose="020B0004020202020204" pitchFamily="34" charset="0"/>
              </a:rPr>
              <a:t>• </a:t>
            </a:r>
            <a:r>
              <a:rPr lang="en-US" sz="2900" b="1" dirty="0">
                <a:latin typeface="Aptos" panose="020B0004020202020204" pitchFamily="34" charset="0"/>
              </a:rPr>
              <a:t>Harvest Phase: </a:t>
            </a:r>
            <a:r>
              <a:rPr lang="en-US" sz="2900" dirty="0">
                <a:latin typeface="Aptos" panose="020B0004020202020204" pitchFamily="34" charset="0"/>
              </a:rPr>
              <a:t>Virtual harvest income is credited; user allocates funds </a:t>
            </a:r>
            <a:r>
              <a:rPr lang="en-US" sz="2900" b="1" dirty="0">
                <a:latin typeface="Aptos" panose="020B0004020202020204" pitchFamily="34" charset="0"/>
              </a:rPr>
              <a:t>across living expenses, seeds,   savings, insurance, and retirement. </a:t>
            </a:r>
          </a:p>
          <a:p>
            <a:pPr lvl="0">
              <a:lnSpc>
                <a:spcPct val="115000"/>
              </a:lnSpc>
              <a:spcAft>
                <a:spcPts val="1200"/>
              </a:spcAft>
              <a:buSzPts val="935"/>
            </a:pPr>
            <a:r>
              <a:rPr lang="en-US" sz="2900" dirty="0">
                <a:latin typeface="Aptos" panose="020B0004020202020204" pitchFamily="34" charset="0"/>
              </a:rPr>
              <a:t>• </a:t>
            </a:r>
            <a:r>
              <a:rPr lang="en-US" sz="2900" b="1" dirty="0">
                <a:latin typeface="Aptos" panose="020B0004020202020204" pitchFamily="34" charset="0"/>
              </a:rPr>
              <a:t>Simulation Phase: </a:t>
            </a:r>
            <a:r>
              <a:rPr lang="en-US" sz="2900" dirty="0">
                <a:latin typeface="Aptos" panose="020B0004020202020204" pitchFamily="34" charset="0"/>
              </a:rPr>
              <a:t>Realistic random events (scam calls, medical needs, weather losses, loan offers) force real-time financial decisions with consequences. </a:t>
            </a:r>
          </a:p>
          <a:p>
            <a:pPr lvl="0">
              <a:lnSpc>
                <a:spcPct val="115000"/>
              </a:lnSpc>
              <a:spcAft>
                <a:spcPts val="1200"/>
              </a:spcAft>
              <a:buSzPts val="935"/>
            </a:pPr>
            <a:r>
              <a:rPr lang="en-US" sz="2900" dirty="0">
                <a:latin typeface="Aptos" panose="020B0004020202020204" pitchFamily="34" charset="0"/>
              </a:rPr>
              <a:t>• </a:t>
            </a:r>
            <a:r>
              <a:rPr lang="en-US" sz="2900" b="1" dirty="0">
                <a:latin typeface="Aptos" panose="020B0004020202020204" pitchFamily="34" charset="0"/>
              </a:rPr>
              <a:t>Verification &amp; Reinforcement: </a:t>
            </a:r>
            <a:r>
              <a:rPr lang="en-US" sz="2900" dirty="0">
                <a:latin typeface="Aptos" panose="020B0004020202020204" pitchFamily="34" charset="0"/>
              </a:rPr>
              <a:t>Short daily </a:t>
            </a:r>
            <a:r>
              <a:rPr lang="en-US" sz="2900" b="1" dirty="0">
                <a:latin typeface="Aptos" panose="020B0004020202020204" pitchFamily="34" charset="0"/>
              </a:rPr>
              <a:t>SMS/voice-based micro-quizzes </a:t>
            </a:r>
            <a:r>
              <a:rPr lang="en-US" sz="2900" dirty="0">
                <a:latin typeface="Aptos" panose="020B0004020202020204" pitchFamily="34" charset="0"/>
              </a:rPr>
              <a:t>and alerts reinforce correct financial behavior. </a:t>
            </a:r>
          </a:p>
          <a:p>
            <a:pPr lvl="0">
              <a:lnSpc>
                <a:spcPct val="115000"/>
              </a:lnSpc>
              <a:spcAft>
                <a:spcPts val="1200"/>
              </a:spcAft>
              <a:buSzPts val="935"/>
            </a:pPr>
            <a:r>
              <a:rPr lang="en-US" sz="2900" dirty="0">
                <a:latin typeface="Aptos" panose="020B0004020202020204" pitchFamily="34" charset="0"/>
              </a:rPr>
              <a:t>• </a:t>
            </a:r>
            <a:r>
              <a:rPr lang="en-US" sz="2900" b="1" dirty="0">
                <a:latin typeface="Aptos" panose="020B0004020202020204" pitchFamily="34" charset="0"/>
              </a:rPr>
              <a:t>Evaluation: </a:t>
            </a:r>
            <a:r>
              <a:rPr lang="en-US" sz="2900" dirty="0">
                <a:latin typeface="Aptos" panose="020B0004020202020204" pitchFamily="34" charset="0"/>
              </a:rPr>
              <a:t>End-of-season assessment using </a:t>
            </a:r>
            <a:r>
              <a:rPr lang="en-US" sz="2900" b="1" dirty="0">
                <a:latin typeface="Aptos" panose="020B0004020202020204" pitchFamily="34" charset="0"/>
              </a:rPr>
              <a:t>a Financial Resilience Index</a:t>
            </a:r>
            <a:r>
              <a:rPr lang="en-US" sz="2900" dirty="0">
                <a:latin typeface="Aptos" panose="020B0004020202020204" pitchFamily="34" charset="0"/>
              </a:rPr>
              <a:t>, stress score, and </a:t>
            </a:r>
            <a:r>
              <a:rPr lang="en-US" sz="2900" b="1" dirty="0">
                <a:latin typeface="Aptos" panose="020B0004020202020204" pitchFamily="34" charset="0"/>
              </a:rPr>
              <a:t>leaderboard ranking </a:t>
            </a:r>
            <a:r>
              <a:rPr lang="en-US" sz="2900" dirty="0">
                <a:latin typeface="Aptos" panose="020B0004020202020204" pitchFamily="34" charset="0"/>
              </a:rPr>
              <a:t>to motivate sustained learning.</a:t>
            </a:r>
            <a:endParaRPr sz="2900" dirty="0">
              <a:solidFill>
                <a:srgbClr val="434343"/>
              </a:solidFill>
              <a:latin typeface="Aptos" panose="020B0004020202020204" pitchFamily="34" charset="0"/>
              <a:ea typeface="Manrope"/>
              <a:cs typeface="Manrope"/>
              <a:sym typeface="Manrop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918</Words>
  <Application>Microsoft Office PowerPoint</Application>
  <PresentationFormat>On-screen Show (16:9)</PresentationFormat>
  <Paragraphs>62</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Manrope</vt:lpstr>
      <vt:lpstr>Aptos</vt:lpstr>
      <vt:lpstr>Manrope SemiBold</vt:lpstr>
      <vt:lpstr>Arial</vt:lpstr>
      <vt:lpstr>Wingdings</vt:lpstr>
      <vt:lpstr>Poppins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Shivsrijit Verma</cp:lastModifiedBy>
  <cp:revision>1</cp:revision>
  <dcterms:modified xsi:type="dcterms:W3CDTF">2026-02-15T10:18:14Z</dcterms:modified>
</cp:coreProperties>
</file>